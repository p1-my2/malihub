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7" r:id="rId4"/>
    <p:sldId id="258" r:id="rId5"/>
    <p:sldId id="259" r:id="rId6"/>
    <p:sldId id="260" r:id="rId7"/>
    <p:sldId id="261" r:id="rId9"/>
    <p:sldId id="262" r:id="rId10"/>
    <p:sldId id="263" r:id="rId11"/>
    <p:sldId id="264" r:id="rId12"/>
    <p:sldId id="270" r:id="rId13"/>
    <p:sldId id="271" r:id="rId14"/>
    <p:sldId id="265" r:id="rId15"/>
    <p:sldId id="266"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8" autoAdjust="0"/>
    <p:restoredTop sz="94660"/>
  </p:normalViewPr>
  <p:slideViewPr>
    <p:cSldViewPr snapToGrid="0" showGuides="1">
      <p:cViewPr>
        <p:scale>
          <a:sx n="75" d="100"/>
          <a:sy n="75" d="100"/>
        </p:scale>
        <p:origin x="498" y="126"/>
      </p:cViewPr>
      <p:guideLst>
        <p:guide orient="horz" pos="217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5B4B9-CE47-4BA5-BCBB-23E12ED1EEE4}"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6D6843-46A3-4A6A-8784-AB866303FBB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6D6843-46A3-4A6A-8784-AB866303FBB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CFC8F69-4DDA-4E5E-8239-0CC80FB5024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CFC8F69-4DDA-4E5E-8239-0CC80FB5024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CFC8F69-4DDA-4E5E-8239-0CC80FB5024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CFC8F69-4DDA-4E5E-8239-0CC80FB5024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CFC8F69-4DDA-4E5E-8239-0CC80FB5024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CFC8F69-4DDA-4E5E-8239-0CC80FB5024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FC8F69-4DDA-4E5E-8239-0CC80FB5024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CFC8F69-4DDA-4E5E-8239-0CC80FB5024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CFC8F69-4DDA-4E5E-8239-0CC80FB5024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CFC8F69-4DDA-4E5E-8239-0CC80FB5024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CFC8F69-4DDA-4E5E-8239-0CC80FB5024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CFC8F69-4DDA-4E5E-8239-0CC80FB5024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D120A9-22BB-4431-8D72-C0AB590B780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FC8F69-4DDA-4E5E-8239-0CC80FB50246}"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D120A9-22BB-4431-8D72-C0AB590B780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660" y="0"/>
            <a:ext cx="12023090" cy="6788785"/>
          </a:xfrm>
          <a:prstGeom prst="rect">
            <a:avLst/>
          </a:prstGeom>
          <a:noFill/>
        </p:spPr>
        <p:txBody>
          <a:bodyPr wrap="square">
            <a:noAutofit/>
          </a:bodyPr>
          <a:lstStyle/>
          <a:p>
            <a:pPr indent="0" algn="ctr">
              <a:buNone/>
            </a:pPr>
            <a:r>
              <a:rPr lang="en-GB" altLang="en-US" sz="4000" b="1" u="sng" dirty="0" err="1">
                <a:latin typeface="Times New Roman" panose="02020603050405020304" charset="0"/>
                <a:cs typeface="Times New Roman" panose="02020603050405020304" charset="0"/>
              </a:rPr>
              <a:t>MALIHUB GROUP PRESENTATION</a:t>
            </a:r>
            <a:endParaRPr lang="en-US" altLang="en-US" sz="4000" b="1" u="sng" dirty="0">
              <a:latin typeface="Times New Roman" panose="02020603050405020304" charset="0"/>
              <a:cs typeface="Times New Roman" panose="02020603050405020304" charset="0"/>
            </a:endParaRPr>
          </a:p>
          <a:p>
            <a:pPr indent="0" algn="ctr">
              <a:buNone/>
            </a:pPr>
            <a:endParaRPr lang="en-US" altLang="en-US" sz="4000" b="1" u="sng" dirty="0">
              <a:latin typeface="Times New Roman" panose="02020603050405020304" charset="0"/>
              <a:cs typeface="Times New Roman" panose="02020603050405020304" charset="0"/>
            </a:endParaRPr>
          </a:p>
          <a:p>
            <a:pPr indent="0" algn="ctr">
              <a:buNone/>
            </a:pPr>
            <a:r>
              <a:rPr lang="en-US" sz="3600" b="1" dirty="0">
                <a:latin typeface="Times New Roman" panose="02020603050405020304" charset="0"/>
                <a:cs typeface="Times New Roman" panose="02020603050405020304" charset="0"/>
              </a:rPr>
              <a:t>Industrial-Based Learning (IBL) Module</a:t>
            </a:r>
            <a:endParaRPr lang="en-US" sz="3600" b="1" dirty="0">
              <a:latin typeface="Times New Roman" panose="02020603050405020304" charset="0"/>
              <a:cs typeface="Times New Roman" panose="02020603050405020304" charset="0"/>
            </a:endParaRPr>
          </a:p>
          <a:p>
            <a:pPr indent="0" algn="ctr">
              <a:buNone/>
            </a:pPr>
            <a:r>
              <a:rPr lang="en-US" sz="3600" b="1" dirty="0">
                <a:latin typeface="Times New Roman" panose="02020603050405020304" charset="0"/>
                <a:cs typeface="Times New Roman" panose="02020603050405020304" charset="0"/>
              </a:rPr>
              <a:t>Technical University of Kenya</a:t>
            </a:r>
            <a:endParaRPr lang="en-US" sz="3600" b="1" dirty="0">
              <a:latin typeface="Times New Roman" panose="02020603050405020304" charset="0"/>
              <a:cs typeface="Times New Roman" panose="02020603050405020304" charset="0"/>
            </a:endParaRPr>
          </a:p>
          <a:p>
            <a:pPr indent="0" algn="ctr">
              <a:buNone/>
            </a:pPr>
            <a:endParaRPr lang="en-US" sz="3600" b="1" dirty="0">
              <a:latin typeface="Times New Roman" panose="02020603050405020304" charset="0"/>
              <a:cs typeface="Times New Roman" panose="02020603050405020304" charset="0"/>
            </a:endParaRPr>
          </a:p>
          <a:p>
            <a:pPr lvl="1" indent="0" algn="ctr">
              <a:buNone/>
            </a:pPr>
            <a:r>
              <a:rPr lang="en-US" sz="3600" b="1" dirty="0">
                <a:latin typeface="Times New Roman" panose="02020603050405020304" charset="0"/>
                <a:cs typeface="Times New Roman" panose="02020603050405020304" charset="0"/>
              </a:rPr>
              <a:t>Samuel Kamanda – Tech Lead &amp; Database Administrator</a:t>
            </a:r>
            <a:endParaRPr lang="en-US" sz="3600" b="1" dirty="0">
              <a:latin typeface="Times New Roman" panose="02020603050405020304" charset="0"/>
              <a:cs typeface="Times New Roman" panose="02020603050405020304" charset="0"/>
            </a:endParaRPr>
          </a:p>
          <a:p>
            <a:pPr lvl="1" indent="0" algn="ctr">
              <a:buNone/>
            </a:pPr>
            <a:r>
              <a:rPr lang="en-US" sz="3600" b="1" dirty="0">
                <a:latin typeface="Times New Roman" panose="02020603050405020304" charset="0"/>
                <a:cs typeface="Times New Roman" panose="02020603050405020304" charset="0"/>
              </a:rPr>
              <a:t>Promise Mbalu – System Architecture</a:t>
            </a:r>
            <a:endParaRPr lang="en-US" sz="3600" b="1" dirty="0">
              <a:latin typeface="Times New Roman" panose="02020603050405020304" charset="0"/>
              <a:cs typeface="Times New Roman" panose="02020603050405020304" charset="0"/>
            </a:endParaRPr>
          </a:p>
          <a:p>
            <a:pPr lvl="1" indent="0" algn="ctr">
              <a:buNone/>
            </a:pPr>
            <a:r>
              <a:rPr lang="en-US" sz="3600" b="1" dirty="0">
                <a:latin typeface="Times New Roman" panose="02020603050405020304" charset="0"/>
                <a:cs typeface="Times New Roman" panose="02020603050405020304" charset="0"/>
              </a:rPr>
              <a:t>Elsie Idaya – Frontend </a:t>
            </a:r>
            <a:endParaRPr lang="en-US" sz="3600" b="1" dirty="0">
              <a:latin typeface="Times New Roman" panose="02020603050405020304" charset="0"/>
              <a:cs typeface="Times New Roman" panose="02020603050405020304" charset="0"/>
            </a:endParaRPr>
          </a:p>
          <a:p>
            <a:pPr lvl="1" indent="0" algn="ctr">
              <a:buNone/>
            </a:pPr>
            <a:r>
              <a:rPr lang="en-US" sz="3600" b="1" dirty="0" err="1">
                <a:latin typeface="Times New Roman" panose="02020603050405020304" charset="0"/>
                <a:cs typeface="Times New Roman" panose="02020603050405020304" charset="0"/>
              </a:rPr>
              <a:t>Shemaiyah</a:t>
            </a:r>
            <a:r>
              <a:rPr lang="en-US" sz="3600" b="1" dirty="0">
                <a:latin typeface="Times New Roman" panose="02020603050405020304" charset="0"/>
                <a:cs typeface="Times New Roman" panose="02020603050405020304" charset="0"/>
              </a:rPr>
              <a:t> </a:t>
            </a:r>
            <a:r>
              <a:rPr lang="en-US" sz="3600" b="1" dirty="0" err="1">
                <a:latin typeface="Times New Roman" panose="02020603050405020304" charset="0"/>
                <a:cs typeface="Times New Roman" panose="02020603050405020304" charset="0"/>
              </a:rPr>
              <a:t>Leelban</a:t>
            </a:r>
            <a:r>
              <a:rPr lang="en-US" sz="3600" b="1" dirty="0">
                <a:latin typeface="Times New Roman" panose="02020603050405020304" charset="0"/>
                <a:cs typeface="Times New Roman" panose="02020603050405020304" charset="0"/>
              </a:rPr>
              <a:t> – Backend </a:t>
            </a:r>
            <a:endParaRPr lang="en-US" sz="3600" b="1" dirty="0">
              <a:latin typeface="Times New Roman" panose="02020603050405020304" charset="0"/>
              <a:cs typeface="Times New Roman" panose="02020603050405020304" charset="0"/>
            </a:endParaRPr>
          </a:p>
          <a:p>
            <a:pPr lvl="1" indent="0" algn="ctr">
              <a:buNone/>
            </a:pPr>
            <a:endParaRPr lang="en-US" sz="3600" b="1" dirty="0">
              <a:latin typeface="Times New Roman" panose="02020603050405020304" charset="0"/>
              <a:cs typeface="Times New Roman" panose="02020603050405020304" charset="0"/>
            </a:endParaRPr>
          </a:p>
          <a:p>
            <a:pPr lvl="1" indent="0" algn="ctr">
              <a:buNone/>
            </a:pPr>
            <a:r>
              <a:rPr lang="en-GB" altLang="en-US" sz="3600" b="1" dirty="0">
                <a:latin typeface="Times New Roman" panose="02020603050405020304" charset="0"/>
                <a:cs typeface="Times New Roman" panose="02020603050405020304" charset="0"/>
              </a:rPr>
              <a:t>Malihub MVP ver.1</a:t>
            </a:r>
            <a:endParaRPr lang="en-US" sz="3600" b="1" dirty="0">
              <a:latin typeface="Times New Roman" panose="02020603050405020304" charset="0"/>
              <a:cs typeface="Times New Roman" panose="02020603050405020304" charset="0"/>
            </a:endParaRPr>
          </a:p>
          <a:p>
            <a:pPr indent="0" algn="ctr">
              <a:buNone/>
            </a:pPr>
            <a:endParaRPr lang="en-US" sz="3600"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6870" y="247015"/>
            <a:ext cx="11568430" cy="6242685"/>
          </a:xfrm>
          <a:prstGeom prst="rect">
            <a:avLst/>
          </a:prstGeom>
          <a:noFill/>
        </p:spPr>
        <p:txBody>
          <a:bodyPr wrap="square" rtlCol="0">
            <a:noAutofit/>
          </a:bodyPr>
          <a:lstStyle/>
          <a:p>
            <a:r>
              <a:rPr lang="en-US" sz="4000" b="1" u="sng" dirty="0">
                <a:latin typeface="Times New Roman" panose="02020603050405020304" charset="0"/>
                <a:cs typeface="Times New Roman" panose="02020603050405020304" charset="0"/>
              </a:rPr>
              <a:t>Problem Statement</a:t>
            </a:r>
            <a:endParaRPr lang="en-US" sz="4000" b="1" u="sng" dirty="0">
              <a:latin typeface="Times New Roman" panose="02020603050405020304" charset="0"/>
              <a:cs typeface="Times New Roman" panose="02020603050405020304" charset="0"/>
            </a:endParaRPr>
          </a:p>
          <a:p>
            <a:r>
              <a:rPr lang="en-US" sz="3200" b="1" dirty="0">
                <a:latin typeface="Times New Roman" panose="02020603050405020304" charset="0"/>
                <a:cs typeface="Times New Roman" panose="02020603050405020304" charset="0"/>
              </a:rPr>
              <a:t>The Core Challenge:</a:t>
            </a:r>
            <a:r>
              <a:rPr lang="en-US" sz="3200" dirty="0">
                <a:latin typeface="Times New Roman" panose="02020603050405020304" charset="0"/>
                <a:cs typeface="Times New Roman" panose="02020603050405020304" charset="0"/>
              </a:rPr>
              <a:t> Many individuals struggle to track their daily spending, making it difficult to control expenses and stick to a budget.</a:t>
            </a:r>
            <a:endParaRPr lang="en-US" sz="3200" dirty="0">
              <a:latin typeface="Times New Roman" panose="02020603050405020304" charset="0"/>
              <a:cs typeface="Times New Roman" panose="02020603050405020304" charset="0"/>
            </a:endParaRPr>
          </a:p>
          <a:p>
            <a:r>
              <a:rPr lang="en-US" sz="3200" b="1" u="sng" dirty="0">
                <a:latin typeface="Times New Roman" panose="02020603050405020304" charset="0"/>
                <a:cs typeface="Times New Roman" panose="02020603050405020304" charset="0"/>
              </a:rPr>
              <a:t>Flaws of Existing Methods</a:t>
            </a:r>
            <a:endParaRPr lang="en-US" sz="3200" b="1" u="sng" dirty="0">
              <a:latin typeface="Times New Roman" panose="02020603050405020304" charset="0"/>
              <a:cs typeface="Times New Roman" panose="02020603050405020304" charset="0"/>
            </a:endParaRPr>
          </a:p>
          <a:p>
            <a:r>
              <a:rPr lang="en-US" sz="3200" dirty="0">
                <a:latin typeface="Times New Roman" panose="02020603050405020304" charset="0"/>
                <a:cs typeface="Times New Roman" panose="02020603050405020304" charset="0"/>
              </a:rPr>
              <a:t>Manual Paper Records: Inefficient, slow to update, and easy to lose.</a:t>
            </a:r>
            <a:endParaRPr lang="en-US" sz="3200" dirty="0">
              <a:latin typeface="Times New Roman" panose="02020603050405020304" charset="0"/>
              <a:cs typeface="Times New Roman" panose="02020603050405020304" charset="0"/>
            </a:endParaRPr>
          </a:p>
          <a:p>
            <a:r>
              <a:rPr lang="en-US" sz="3200" dirty="0">
                <a:latin typeface="Times New Roman" panose="02020603050405020304" charset="0"/>
                <a:cs typeface="Times New Roman" panose="02020603050405020304" charset="0"/>
              </a:rPr>
              <a:t>Spreadsheets: Tedious to update on mobile phones and prone to user errors.</a:t>
            </a:r>
            <a:endParaRPr lang="en-US" sz="3200" dirty="0">
              <a:latin typeface="Times New Roman" panose="02020603050405020304" charset="0"/>
              <a:cs typeface="Times New Roman" panose="02020603050405020304" charset="0"/>
            </a:endParaRPr>
          </a:p>
          <a:p>
            <a:r>
              <a:rPr lang="en-US" sz="3200" b="1" dirty="0">
                <a:latin typeface="Times New Roman" panose="02020603050405020304" charset="0"/>
                <a:cs typeface="Times New Roman" panose="02020603050405020304" charset="0"/>
              </a:rPr>
              <a:t>Why It Matters:</a:t>
            </a:r>
            <a:r>
              <a:rPr lang="en-US" sz="3200" dirty="0">
                <a:latin typeface="Times New Roman" panose="02020603050405020304" charset="0"/>
                <a:cs typeface="Times New Roman" panose="02020603050405020304" charset="0"/>
              </a:rPr>
              <a:t> Without a simple tool to log daily expenses, students and young professionals struggle to build good financial tracking habits early on</a:t>
            </a:r>
            <a:r>
              <a:rPr lang="en-GB" altLang="en-US" sz="3200" dirty="0">
                <a:latin typeface="Times New Roman" panose="02020603050405020304" charset="0"/>
                <a:cs typeface="Times New Roman" panose="02020603050405020304" charset="0"/>
              </a:rPr>
              <a:t> to build financial awareness</a:t>
            </a:r>
            <a:r>
              <a:rPr lang="en-US" sz="3200" dirty="0">
                <a:latin typeface="Times New Roman" panose="02020603050405020304" charset="0"/>
                <a:cs typeface="Times New Roman" panose="02020603050405020304" charset="0"/>
              </a:rPr>
              <a:t>.</a:t>
            </a:r>
            <a:r>
              <a:rPr lang="en-GB" altLang="en-US" sz="3200" dirty="0">
                <a:latin typeface="Times New Roman" panose="02020603050405020304" charset="0"/>
                <a:cs typeface="Times New Roman" panose="02020603050405020304" charset="0"/>
              </a:rPr>
              <a:t> </a:t>
            </a:r>
            <a:endParaRPr lang="en-GB" altLang="en-US" sz="32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6545" y="346075"/>
            <a:ext cx="11895455" cy="6197600"/>
          </a:xfrm>
          <a:prstGeom prst="rect">
            <a:avLst/>
          </a:prstGeom>
          <a:noFill/>
        </p:spPr>
        <p:txBody>
          <a:bodyPr wrap="square" rtlCol="0">
            <a:noAutofit/>
          </a:bodyPr>
          <a:lstStyle/>
          <a:p>
            <a:r>
              <a:rPr lang="en-US" sz="2800" b="1" u="sng" dirty="0">
                <a:latin typeface="Times New Roman" panose="02020603050405020304" charset="0"/>
                <a:cs typeface="Times New Roman" panose="02020603050405020304" charset="0"/>
              </a:rPr>
              <a:t>Objectives &amp; Scope</a:t>
            </a:r>
            <a:endParaRPr lang="en-US" sz="2800" b="1" u="sng" dirty="0">
              <a:latin typeface="Times New Roman" panose="02020603050405020304" charset="0"/>
              <a:cs typeface="Times New Roman" panose="02020603050405020304" charset="0"/>
            </a:endParaRPr>
          </a:p>
          <a:p>
            <a:r>
              <a:rPr lang="en-US" sz="2800" b="1" dirty="0">
                <a:latin typeface="Times New Roman" panose="02020603050405020304" charset="0"/>
                <a:cs typeface="Times New Roman" panose="02020603050405020304" charset="0"/>
              </a:rPr>
              <a:t>Primary Objective:</a:t>
            </a:r>
            <a:r>
              <a:rPr lang="en-US" sz="2800" dirty="0">
                <a:latin typeface="Times New Roman" panose="02020603050405020304" charset="0"/>
                <a:cs typeface="Times New Roman" panose="02020603050405020304" charset="0"/>
              </a:rPr>
              <a:t> To deliver a simple, manual </a:t>
            </a:r>
            <a:r>
              <a:rPr lang="en-US" sz="2800" b="1" dirty="0">
                <a:latin typeface="Times New Roman" panose="02020603050405020304" charset="0"/>
                <a:cs typeface="Times New Roman" panose="02020603050405020304" charset="0"/>
              </a:rPr>
              <a:t>Personal Finance Management System</a:t>
            </a:r>
            <a:r>
              <a:rPr lang="en-US" sz="2800" dirty="0">
                <a:latin typeface="Times New Roman" panose="02020603050405020304" charset="0"/>
                <a:cs typeface="Times New Roman" panose="02020603050405020304" charset="0"/>
              </a:rPr>
              <a:t> that helps users track their income and expenses.</a:t>
            </a:r>
            <a:endParaRPr lang="en-US" sz="2800" dirty="0">
              <a:latin typeface="Times New Roman" panose="02020603050405020304" charset="0"/>
              <a:cs typeface="Times New Roman" panose="02020603050405020304" charset="0"/>
            </a:endParaRPr>
          </a:p>
          <a:p>
            <a:r>
              <a:rPr lang="en-US" sz="2800" b="1" u="sng" dirty="0">
                <a:latin typeface="Times New Roman" panose="02020603050405020304" charset="0"/>
                <a:cs typeface="Times New Roman" panose="02020603050405020304" charset="0"/>
              </a:rPr>
              <a:t>Core Capabilities (MVP)</a:t>
            </a:r>
            <a:endParaRPr lang="en-US" sz="2800" b="1" u="sng" dirty="0">
              <a:latin typeface="Times New Roman" panose="02020603050405020304" charset="0"/>
              <a:cs typeface="Times New Roman" panose="02020603050405020304" charset="0"/>
            </a:endParaRPr>
          </a:p>
          <a:p>
            <a:r>
              <a:rPr lang="en-US" sz="2800" dirty="0">
                <a:latin typeface="Times New Roman" panose="02020603050405020304" charset="0"/>
                <a:cs typeface="Times New Roman" panose="02020603050405020304" charset="0"/>
              </a:rPr>
              <a:t>-The user manually inputs their income and daily expenses.</a:t>
            </a:r>
            <a:endParaRPr lang="en-US" sz="2800" dirty="0">
              <a:latin typeface="Times New Roman" panose="02020603050405020304" charset="0"/>
              <a:cs typeface="Times New Roman" panose="02020603050405020304" charset="0"/>
            </a:endParaRPr>
          </a:p>
          <a:p>
            <a:r>
              <a:rPr lang="en-US" sz="2800" dirty="0">
                <a:latin typeface="Times New Roman" panose="02020603050405020304" charset="0"/>
                <a:cs typeface="Times New Roman" panose="02020603050405020304" charset="0"/>
              </a:rPr>
              <a:t>-The system calculates and works out the remaining balance based on those manual entries.</a:t>
            </a:r>
            <a:endParaRPr lang="en-US" sz="2800" dirty="0">
              <a:latin typeface="Times New Roman" panose="02020603050405020304" charset="0"/>
              <a:cs typeface="Times New Roman" panose="02020603050405020304" charset="0"/>
            </a:endParaRPr>
          </a:p>
          <a:p>
            <a:r>
              <a:rPr lang="en-US" sz="2800" dirty="0">
                <a:latin typeface="Times New Roman" panose="02020603050405020304" charset="0"/>
                <a:cs typeface="Times New Roman" panose="02020603050405020304" charset="0"/>
              </a:rPr>
              <a:t>-Helps users track exactly where their money goes.</a:t>
            </a:r>
            <a:endParaRPr lang="en-US" sz="2800" dirty="0">
              <a:latin typeface="Times New Roman" panose="02020603050405020304" charset="0"/>
              <a:cs typeface="Times New Roman" panose="02020603050405020304" charset="0"/>
            </a:endParaRPr>
          </a:p>
          <a:p>
            <a:r>
              <a:rPr lang="en-US" sz="2800" b="1" u="sng" dirty="0">
                <a:latin typeface="Times New Roman" panose="02020603050405020304" charset="0"/>
                <a:cs typeface="Times New Roman" panose="02020603050405020304" charset="0"/>
              </a:rPr>
              <a:t>System Boundaries (In-Scope)</a:t>
            </a:r>
            <a:endParaRPr lang="en-US" sz="2800" b="1" u="sng" dirty="0">
              <a:latin typeface="Times New Roman" panose="02020603050405020304" charset="0"/>
              <a:cs typeface="Times New Roman" panose="02020603050405020304" charset="0"/>
            </a:endParaRPr>
          </a:p>
          <a:p>
            <a:r>
              <a:rPr lang="en-US" sz="2800" dirty="0">
                <a:latin typeface="Times New Roman" panose="02020603050405020304" charset="0"/>
                <a:cs typeface="Times New Roman" panose="02020603050405020304" charset="0"/>
              </a:rPr>
              <a:t>A functional mobile interface built using Flutter for Android and iOS.</a:t>
            </a:r>
            <a:endParaRPr lang="en-US" sz="2800" dirty="0">
              <a:latin typeface="Times New Roman" panose="02020603050405020304" charset="0"/>
              <a:cs typeface="Times New Roman" panose="02020603050405020304" charset="0"/>
            </a:endParaRPr>
          </a:p>
          <a:p>
            <a:r>
              <a:rPr lang="en-US" sz="2800" b="1" dirty="0">
                <a:latin typeface="Times New Roman" panose="02020603050405020304" charset="0"/>
                <a:cs typeface="Times New Roman" panose="02020603050405020304" charset="0"/>
              </a:rPr>
              <a:t>Out of Scope:</a:t>
            </a:r>
            <a:r>
              <a:rPr lang="en-US" sz="2800" dirty="0">
                <a:latin typeface="Times New Roman" panose="02020603050405020304" charset="0"/>
                <a:cs typeface="Times New Roman" panose="02020603050405020304" charset="0"/>
              </a:rPr>
              <a:t> This system </a:t>
            </a:r>
            <a:r>
              <a:rPr lang="en-US" sz="2800" b="1" dirty="0">
                <a:latin typeface="Times New Roman" panose="02020603050405020304" charset="0"/>
                <a:cs typeface="Times New Roman" panose="02020603050405020304" charset="0"/>
              </a:rPr>
              <a:t>does not</a:t>
            </a:r>
            <a:r>
              <a:rPr lang="en-US" sz="2800" dirty="0">
                <a:latin typeface="Times New Roman" panose="02020603050405020304" charset="0"/>
                <a:cs typeface="Times New Roman" panose="02020603050405020304" charset="0"/>
              </a:rPr>
              <a:t> automatically connect to or fetch balances from banks, M-Pesa, or any other external finance applications. All data is entered manually by the user.</a:t>
            </a:r>
            <a:endParaRPr lang="en-US" sz="28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9410" y="274955"/>
            <a:ext cx="11158220" cy="6209665"/>
          </a:xfrm>
          <a:prstGeom prst="rect">
            <a:avLst/>
          </a:prstGeom>
          <a:noFill/>
        </p:spPr>
        <p:txBody>
          <a:bodyPr wrap="square" rtlCol="0">
            <a:noAutofit/>
          </a:bodyPr>
          <a:lstStyle/>
          <a:p>
            <a:r>
              <a:rPr lang="en-US" altLang="en-US" sz="2800" b="1" u="sng" dirty="0">
                <a:latin typeface="Times New Roman" panose="02020603050405020304" charset="0"/>
                <a:cs typeface="Times New Roman" panose="02020603050405020304" charset="0"/>
              </a:rPr>
              <a:t>Tech Stack Overview</a:t>
            </a:r>
            <a:endParaRPr lang="en-US"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Mobile Frontend</a:t>
            </a:r>
            <a:r>
              <a:rPr lang="en-GB" altLang="en-US" sz="2800" b="1"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Flutter &amp; Dart: Cross-platform framework, enabling deployment to Android and iOS from a single codebase</a:t>
            </a:r>
            <a:r>
              <a:rPr lang="en-GB" altLang="en-US" sz="2800" dirty="0">
                <a:latin typeface="Times New Roman" panose="02020603050405020304" charset="0"/>
                <a:cs typeface="Times New Roman" panose="02020603050405020304" charset="0"/>
              </a:rPr>
              <a:t>.</a:t>
            </a:r>
            <a:endParaRPr lang="en-US"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Backend REST API</a:t>
            </a:r>
            <a:r>
              <a:rPr lang="en-GB" altLang="en-US" sz="2800" b="1" dirty="0">
                <a:latin typeface="Times New Roman" panose="02020603050405020304" charset="0"/>
                <a:cs typeface="Times New Roman" panose="02020603050405020304" charset="0"/>
              </a:rPr>
              <a:t>.</a:t>
            </a:r>
            <a:r>
              <a:rPr lang="en-GB" altLang="en-US" sz="2800"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Node.js &amp; Express: Handles routing and JWT-based authentication; a fixed JWT_SECRET environment variable </a:t>
            </a:r>
            <a:r>
              <a:rPr lang="en-GB" altLang="en-US" sz="2800" dirty="0">
                <a:latin typeface="Times New Roman" panose="02020603050405020304" charset="0"/>
                <a:cs typeface="Times New Roman" panose="02020603050405020304" charset="0"/>
              </a:rPr>
              <a:t>(on Railway) </a:t>
            </a:r>
            <a:r>
              <a:rPr lang="en-US" altLang="en-US" sz="2800" dirty="0">
                <a:latin typeface="Times New Roman" panose="02020603050405020304" charset="0"/>
                <a:cs typeface="Times New Roman" panose="02020603050405020304" charset="0"/>
              </a:rPr>
              <a:t>ensures user sessions survive backend redeploys, rather than being invalidated each time</a:t>
            </a:r>
            <a:r>
              <a:rPr lang="en-GB" altLang="en-US" sz="2800" dirty="0">
                <a:latin typeface="Times New Roman" panose="02020603050405020304" charset="0"/>
                <a:cs typeface="Times New Roman" panose="02020603050405020304" charset="0"/>
              </a:rPr>
              <a:t>.</a:t>
            </a:r>
            <a:endParaRPr lang="en-US"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Database</a:t>
            </a:r>
            <a:r>
              <a:rPr lang="en-GB" altLang="en-US" sz="2800" b="1" dirty="0">
                <a:latin typeface="Times New Roman" panose="02020603050405020304" charset="0"/>
                <a:cs typeface="Times New Roman" panose="02020603050405020304" charset="0"/>
              </a:rPr>
              <a:t> and Hosting.</a:t>
            </a:r>
            <a:r>
              <a:rPr lang="en-US" altLang="en-US" sz="2800" dirty="0">
                <a:latin typeface="Times New Roman" panose="02020603050405020304" charset="0"/>
                <a:cs typeface="Times New Roman" panose="02020603050405020304" charset="0"/>
              </a:rPr>
              <a:t> </a:t>
            </a:r>
            <a:r>
              <a:rPr lang="en-US" altLang="en-US" sz="2800" b="1" dirty="0">
                <a:latin typeface="Times New Roman" panose="02020603050405020304" charset="0"/>
                <a:cs typeface="Times New Roman" panose="02020603050405020304" charset="0"/>
              </a:rPr>
              <a:t>MySQL</a:t>
            </a:r>
            <a:r>
              <a:rPr lang="en-US" altLang="en-US" sz="2800" dirty="0">
                <a:latin typeface="Times New Roman" panose="02020603050405020304" charset="0"/>
                <a:cs typeface="Times New Roman" panose="02020603050405020304" charset="0"/>
              </a:rPr>
              <a:t>, managed via Prisma ORM: Stores user data with strongly-typed relationships enforced at the schema level; hosted on Railway.app, with the backend connecting via Railway's internal </a:t>
            </a:r>
            <a:r>
              <a:rPr lang="en-US" altLang="en-US" sz="2800" b="1" dirty="0">
                <a:latin typeface="Times New Roman" panose="02020603050405020304" charset="0"/>
                <a:cs typeface="Times New Roman" panose="02020603050405020304" charset="0"/>
              </a:rPr>
              <a:t>DATABASE_URL </a:t>
            </a:r>
            <a:r>
              <a:rPr lang="en-US" altLang="en-US" sz="2800" dirty="0">
                <a:latin typeface="Times New Roman" panose="02020603050405020304" charset="0"/>
                <a:cs typeface="Times New Roman" panose="02020603050405020304" charset="0"/>
              </a:rPr>
              <a:t>reference</a:t>
            </a:r>
            <a:r>
              <a:rPr lang="en-GB" altLang="en-US" sz="2800" dirty="0">
                <a:latin typeface="Times New Roman" panose="02020603050405020304" charset="0"/>
                <a:cs typeface="Times New Roman" panose="02020603050405020304" charset="0"/>
              </a:rPr>
              <a:t>.</a:t>
            </a:r>
            <a:endParaRPr lang="en-US"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Version Control &amp; Deployment</a:t>
            </a:r>
            <a:r>
              <a:rPr lang="en-GB" altLang="en-US" sz="2800" b="1"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GitHub: Team collaboration via Git branches and pull requests; Railway auto-deploys the backend on every push to the main branch</a:t>
            </a:r>
            <a:r>
              <a:rPr lang="en-GB" altLang="en-US" sz="2800" dirty="0">
                <a:latin typeface="Times New Roman" panose="02020603050405020304" charset="0"/>
                <a:cs typeface="Times New Roman" panose="02020603050405020304" charset="0"/>
              </a:rPr>
              <a:t>.</a:t>
            </a:r>
            <a:endParaRPr lang="en-US" altLang="en-US" sz="2800"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9700" y="0"/>
            <a:ext cx="11938000" cy="6739255"/>
          </a:xfrm>
          <a:prstGeom prst="rect">
            <a:avLst/>
          </a:prstGeom>
          <a:noFill/>
        </p:spPr>
        <p:txBody>
          <a:bodyPr wrap="square" rtlCol="0">
            <a:spAutoFit/>
          </a:bodyPr>
          <a:lstStyle/>
          <a:p>
            <a:r>
              <a:rPr lang="en-US" b="1" u="sng" dirty="0">
                <a:latin typeface="Times New Roman" panose="02020603050405020304" charset="0"/>
                <a:cs typeface="Times New Roman" panose="02020603050405020304" charset="0"/>
              </a:rPr>
              <a:t>System Architecture Diagram</a:t>
            </a:r>
            <a:endParaRPr lang="en-US" b="1" u="sng" dirty="0">
              <a:latin typeface="Times New Roman" panose="02020603050405020304" charset="0"/>
              <a:cs typeface="Times New Roman" panose="02020603050405020304" charset="0"/>
            </a:endParaRPr>
          </a:p>
          <a:p>
            <a:endParaRPr lang="en-US" b="1" u="sng" dirty="0">
              <a:latin typeface="Times New Roman" panose="02020603050405020304" charset="0"/>
              <a:cs typeface="Times New Roman" panose="02020603050405020304" charset="0"/>
            </a:endParaRPr>
          </a:p>
          <a:p>
            <a:endParaRPr lang="en-US" b="1" u="sng" dirty="0">
              <a:latin typeface="Times New Roman" panose="02020603050405020304" charset="0"/>
              <a:cs typeface="Times New Roman" panose="02020603050405020304" charset="0"/>
            </a:endParaRPr>
          </a:p>
          <a:p>
            <a:endParaRPr lang="en-US" u="sng"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endParaRPr lang="en-US" b="1" dirty="0">
              <a:latin typeface="Times New Roman" panose="02020603050405020304" charset="0"/>
              <a:cs typeface="Times New Roman" panose="02020603050405020304" charset="0"/>
            </a:endParaRPr>
          </a:p>
          <a:p>
            <a:r>
              <a:rPr lang="en-US" b="1" dirty="0">
                <a:latin typeface="Times New Roman" panose="02020603050405020304" charset="0"/>
                <a:cs typeface="Times New Roman" panose="02020603050405020304" charset="0"/>
              </a:rPr>
              <a:t>How Data Flows:</a:t>
            </a:r>
            <a:endParaRPr lang="en-US" dirty="0">
              <a:latin typeface="Times New Roman" panose="02020603050405020304" charset="0"/>
              <a:cs typeface="Times New Roman" panose="02020603050405020304" charset="0"/>
            </a:endParaRPr>
          </a:p>
          <a:p>
            <a:pPr lvl="1"/>
            <a:r>
              <a:rPr lang="en-US" b="1" dirty="0">
                <a:latin typeface="Times New Roman" panose="02020603050405020304" charset="0"/>
                <a:cs typeface="Times New Roman" panose="02020603050405020304" charset="0"/>
              </a:rPr>
              <a:t>Frontend:</a:t>
            </a:r>
            <a:r>
              <a:rPr lang="en-US" dirty="0">
                <a:latin typeface="Times New Roman" panose="02020603050405020304" charset="0"/>
                <a:cs typeface="Times New Roman" panose="02020603050405020304" charset="0"/>
              </a:rPr>
              <a:t> User types an expense or income entry into the Flutter mobile interface.</a:t>
            </a:r>
            <a:endParaRPr lang="en-US" dirty="0">
              <a:latin typeface="Times New Roman" panose="02020603050405020304" charset="0"/>
              <a:cs typeface="Times New Roman" panose="02020603050405020304" charset="0"/>
            </a:endParaRPr>
          </a:p>
          <a:p>
            <a:pPr lvl="1"/>
            <a:r>
              <a:rPr lang="en-US" b="1" dirty="0">
                <a:latin typeface="Times New Roman" panose="02020603050405020304" charset="0"/>
                <a:cs typeface="Times New Roman" panose="02020603050405020304" charset="0"/>
              </a:rPr>
              <a:t>API Backend:</a:t>
            </a:r>
            <a:r>
              <a:rPr lang="en-US" dirty="0">
                <a:latin typeface="Times New Roman" panose="02020603050405020304" charset="0"/>
                <a:cs typeface="Times New Roman" panose="02020603050405020304" charset="0"/>
              </a:rPr>
              <a:t> The Flutter frontend sends the data securely to the Node.js backend.</a:t>
            </a:r>
            <a:endParaRPr lang="en-US" dirty="0">
              <a:latin typeface="Times New Roman" panose="02020603050405020304" charset="0"/>
              <a:cs typeface="Times New Roman" panose="02020603050405020304" charset="0"/>
            </a:endParaRPr>
          </a:p>
          <a:p>
            <a:pPr lvl="1"/>
            <a:r>
              <a:rPr lang="en-US" b="1" dirty="0">
                <a:latin typeface="Times New Roman" panose="02020603050405020304" charset="0"/>
                <a:cs typeface="Times New Roman" panose="02020603050405020304" charset="0"/>
              </a:rPr>
              <a:t>Database:</a:t>
            </a:r>
            <a:r>
              <a:rPr lang="en-US" dirty="0">
                <a:latin typeface="Times New Roman" panose="02020603050405020304" charset="0"/>
                <a:cs typeface="Times New Roman" panose="02020603050405020304" charset="0"/>
              </a:rPr>
              <a:t> The backend updates the MySQL database using Prisma queries.</a:t>
            </a:r>
            <a:endParaRPr lang="en-US" dirty="0">
              <a:latin typeface="Times New Roman" panose="02020603050405020304" charset="0"/>
              <a:cs typeface="Times New Roman" panose="02020603050405020304" charset="0"/>
            </a:endParaRPr>
          </a:p>
          <a:p>
            <a:pPr lvl="1"/>
            <a:r>
              <a:rPr lang="en-US" b="1" dirty="0">
                <a:latin typeface="Times New Roman" panose="02020603050405020304" charset="0"/>
                <a:cs typeface="Times New Roman" panose="02020603050405020304" charset="0"/>
              </a:rPr>
              <a:t>Response:</a:t>
            </a:r>
            <a:r>
              <a:rPr lang="en-US" dirty="0">
                <a:latin typeface="Times New Roman" panose="02020603050405020304" charset="0"/>
                <a:cs typeface="Times New Roman" panose="02020603050405020304" charset="0"/>
              </a:rPr>
              <a:t> The system calculates the new balance and sends it back to refresh the user's screen.</a:t>
            </a:r>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p:txBody>
      </p:sp>
      <p:pic>
        <p:nvPicPr>
          <p:cNvPr id="3" name="Picture 2" descr="System Architecture"/>
          <p:cNvPicPr>
            <a:picLocks noChangeAspect="1"/>
          </p:cNvPicPr>
          <p:nvPr/>
        </p:nvPicPr>
        <p:blipFill>
          <a:blip r:embed="rId1"/>
          <a:stretch>
            <a:fillRect/>
          </a:stretch>
        </p:blipFill>
        <p:spPr>
          <a:xfrm>
            <a:off x="114300" y="553393"/>
            <a:ext cx="8535430" cy="43645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7800" y="228600"/>
            <a:ext cx="11722100" cy="6277610"/>
          </a:xfrm>
          <a:prstGeom prst="rect">
            <a:avLst/>
          </a:prstGeom>
          <a:noFill/>
        </p:spPr>
        <p:txBody>
          <a:bodyPr wrap="square" rtlCol="0">
            <a:spAutoFit/>
          </a:bodyPr>
          <a:lstStyle/>
          <a:p>
            <a:r>
              <a:rPr lang="en-US" sz="3200" b="1" u="sng" dirty="0">
                <a:latin typeface="Times New Roman" panose="02020603050405020304" charset="0"/>
                <a:cs typeface="Times New Roman" panose="02020603050405020304" charset="0"/>
              </a:rPr>
              <a:t>Database Design (Structural Mapping)</a:t>
            </a:r>
            <a:endParaRPr lang="en-US" sz="3200" b="1" u="sng" dirty="0">
              <a:latin typeface="Times New Roman" panose="02020603050405020304" charset="0"/>
              <a:cs typeface="Times New Roman" panose="02020603050405020304" charset="0"/>
            </a:endParaRPr>
          </a:p>
          <a:p>
            <a:r>
              <a:rPr lang="en-US" sz="3200" b="1" dirty="0">
                <a:latin typeface="Times New Roman" panose="02020603050405020304" charset="0"/>
                <a:cs typeface="Times New Roman" panose="02020603050405020304" charset="0"/>
              </a:rPr>
              <a:t>Database Entity Layout:</a:t>
            </a:r>
            <a:r>
              <a:rPr lang="en-US" sz="3200" dirty="0">
                <a:latin typeface="Times New Roman" panose="02020603050405020304" charset="0"/>
                <a:cs typeface="Times New Roman" panose="02020603050405020304" charset="0"/>
              </a:rPr>
              <a:t> Organized into relational tables to keep user records structured.</a:t>
            </a:r>
            <a:endParaRPr lang="en-US" sz="3200" dirty="0">
              <a:latin typeface="Times New Roman" panose="02020603050405020304" charset="0"/>
              <a:cs typeface="Times New Roman" panose="02020603050405020304" charset="0"/>
            </a:endParaRPr>
          </a:p>
          <a:p>
            <a:r>
              <a:rPr lang="en-US" sz="3200" b="1" u="sng" dirty="0">
                <a:latin typeface="Times New Roman" panose="02020603050405020304" charset="0"/>
                <a:cs typeface="Times New Roman" panose="02020603050405020304" charset="0"/>
              </a:rPr>
              <a:t>Primary Structural Mappings</a:t>
            </a:r>
            <a:endParaRPr lang="en-US" sz="3200" u="sng" dirty="0">
              <a:latin typeface="Times New Roman" panose="02020603050405020304" charset="0"/>
              <a:cs typeface="Times New Roman" panose="02020603050405020304" charset="0"/>
            </a:endParaRPr>
          </a:p>
          <a:p>
            <a:r>
              <a:rPr lang="en-US" sz="3200" b="1" dirty="0">
                <a:latin typeface="Times New Roman" panose="02020603050405020304" charset="0"/>
                <a:cs typeface="Times New Roman" panose="02020603050405020304" charset="0"/>
              </a:rPr>
              <a:t>User to Accounts/Budgets/Goals:</a:t>
            </a:r>
            <a:r>
              <a:rPr lang="en-US" sz="3200" dirty="0">
                <a:latin typeface="Times New Roman" panose="02020603050405020304" charset="0"/>
                <a:cs typeface="Times New Roman" panose="02020603050405020304" charset="0"/>
              </a:rPr>
              <a:t> A User can create multiple accounts, budgets, and goals.</a:t>
            </a:r>
            <a:endParaRPr lang="en-US" sz="3200" dirty="0">
              <a:latin typeface="Times New Roman" panose="02020603050405020304" charset="0"/>
              <a:cs typeface="Times New Roman" panose="02020603050405020304" charset="0"/>
            </a:endParaRPr>
          </a:p>
          <a:p>
            <a:r>
              <a:rPr lang="en-US" sz="3200" b="1" dirty="0">
                <a:latin typeface="Times New Roman" panose="02020603050405020304" charset="0"/>
                <a:cs typeface="Times New Roman" panose="02020603050405020304" charset="0"/>
              </a:rPr>
              <a:t>Account to Transaction:</a:t>
            </a:r>
            <a:r>
              <a:rPr lang="en-US" sz="3200" dirty="0">
                <a:latin typeface="Times New Roman" panose="02020603050405020304" charset="0"/>
                <a:cs typeface="Times New Roman" panose="02020603050405020304" charset="0"/>
              </a:rPr>
              <a:t> Every transaction (income or expense) must belong to a specific account.</a:t>
            </a:r>
            <a:endParaRPr lang="en-US" sz="3200" dirty="0">
              <a:latin typeface="Times New Roman" panose="02020603050405020304" charset="0"/>
              <a:cs typeface="Times New Roman" panose="02020603050405020304" charset="0"/>
            </a:endParaRPr>
          </a:p>
          <a:p>
            <a:r>
              <a:rPr lang="en-US" sz="3200" b="1" dirty="0">
                <a:latin typeface="Times New Roman" panose="02020603050405020304" charset="0"/>
                <a:cs typeface="Times New Roman" panose="02020603050405020304" charset="0"/>
              </a:rPr>
              <a:t>Category to Transaction:</a:t>
            </a:r>
            <a:r>
              <a:rPr lang="en-US" sz="3200" dirty="0">
                <a:latin typeface="Times New Roman" panose="02020603050405020304" charset="0"/>
                <a:cs typeface="Times New Roman" panose="02020603050405020304" charset="0"/>
              </a:rPr>
              <a:t> Transactions are linked to categories (like Food or Rent) for clean tracking.</a:t>
            </a:r>
            <a:endParaRPr lang="en-US" sz="3200" dirty="0">
              <a:latin typeface="Times New Roman" panose="02020603050405020304" charset="0"/>
              <a:cs typeface="Times New Roman" panose="02020603050405020304" charset="0"/>
            </a:endParaRPr>
          </a:p>
          <a:p>
            <a:r>
              <a:rPr lang="en-US" sz="3200" b="1" dirty="0">
                <a:latin typeface="Times New Roman" panose="02020603050405020304" charset="0"/>
                <a:cs typeface="Times New Roman" panose="02020603050405020304" charset="0"/>
              </a:rPr>
              <a:t>Category to Budget:</a:t>
            </a:r>
            <a:r>
              <a:rPr lang="en-US" sz="3200" dirty="0">
                <a:latin typeface="Times New Roman" panose="02020603050405020304" charset="0"/>
                <a:cs typeface="Times New Roman" panose="02020603050405020304" charset="0"/>
              </a:rPr>
              <a:t> Budgets are set against specific spending categories to prevent overspending.</a:t>
            </a:r>
            <a:endParaRPr lang="en-US" sz="3200"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600" y="101600"/>
            <a:ext cx="12001500" cy="6247130"/>
          </a:xfrm>
          <a:prstGeom prst="rect">
            <a:avLst/>
          </a:prstGeom>
          <a:noFill/>
        </p:spPr>
        <p:txBody>
          <a:bodyPr wrap="square" rtlCol="0">
            <a:spAutoFit/>
          </a:bodyPr>
          <a:lstStyle/>
          <a:p>
            <a:r>
              <a:rPr lang="en-US" b="1" u="sng" dirty="0">
                <a:latin typeface="Times New Roman" panose="02020603050405020304" charset="0"/>
                <a:cs typeface="Times New Roman" panose="02020603050405020304" charset="0"/>
              </a:rPr>
              <a:t>User Authentication Wireframe</a:t>
            </a:r>
            <a:endParaRPr lang="en-US" b="1" u="sng" dirty="0">
              <a:latin typeface="Times New Roman" panose="02020603050405020304" charset="0"/>
              <a:cs typeface="Times New Roman" panose="02020603050405020304" charset="0"/>
            </a:endParaRPr>
          </a:p>
          <a:p>
            <a:endParaRPr lang="en-US" i="1" u="sng"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r>
              <a:rPr lang="en-US" sz="2800" b="1" dirty="0">
                <a:latin typeface="Times New Roman" panose="02020603050405020304" charset="0"/>
                <a:cs typeface="Times New Roman" panose="02020603050405020304" charset="0"/>
              </a:rPr>
              <a:t>Interface Description:</a:t>
            </a:r>
            <a:endParaRPr lang="en-US" sz="2800" dirty="0">
              <a:latin typeface="Times New Roman" panose="02020603050405020304" charset="0"/>
              <a:cs typeface="Times New Roman" panose="02020603050405020304" charset="0"/>
            </a:endParaRPr>
          </a:p>
          <a:p>
            <a:pPr lvl="1"/>
            <a:r>
              <a:rPr lang="en-US" sz="2800" b="1" dirty="0">
                <a:latin typeface="Times New Roman" panose="02020603050405020304" charset="0"/>
                <a:cs typeface="Times New Roman" panose="02020603050405020304" charset="0"/>
              </a:rPr>
              <a:t>Sign Up / Login Screen:</a:t>
            </a:r>
            <a:r>
              <a:rPr lang="en-US" sz="2800" dirty="0">
                <a:latin typeface="Times New Roman" panose="02020603050405020304" charset="0"/>
                <a:cs typeface="Times New Roman" panose="02020603050405020304" charset="0"/>
              </a:rPr>
              <a:t> Clean input fields for full name, email, and password.</a:t>
            </a:r>
            <a:endParaRPr lang="en-US" sz="2800" dirty="0">
              <a:latin typeface="Times New Roman" panose="02020603050405020304" charset="0"/>
              <a:cs typeface="Times New Roman" panose="02020603050405020304" charset="0"/>
            </a:endParaRPr>
          </a:p>
          <a:p>
            <a:pPr lvl="1"/>
            <a:r>
              <a:rPr lang="en-US" sz="2800" b="1" dirty="0">
                <a:latin typeface="Times New Roman" panose="02020603050405020304" charset="0"/>
                <a:cs typeface="Times New Roman" panose="02020603050405020304" charset="0"/>
              </a:rPr>
              <a:t>Security Rule:</a:t>
            </a:r>
            <a:r>
              <a:rPr lang="en-US" sz="2800" dirty="0">
                <a:latin typeface="Times New Roman" panose="02020603050405020304" charset="0"/>
                <a:cs typeface="Times New Roman" panose="02020603050405020304" charset="0"/>
              </a:rPr>
              <a:t> Passwords are fully encrypted and hashed on the backend using </a:t>
            </a:r>
            <a:r>
              <a:rPr lang="en-US" sz="2800" dirty="0" err="1">
                <a:latin typeface="Times New Roman" panose="02020603050405020304" charset="0"/>
                <a:cs typeface="Times New Roman" panose="02020603050405020304" charset="0"/>
              </a:rPr>
              <a:t>bcrypt</a:t>
            </a:r>
            <a:r>
              <a:rPr lang="en-US" sz="2800" dirty="0">
                <a:latin typeface="Times New Roman" panose="02020603050405020304" charset="0"/>
                <a:cs typeface="Times New Roman" panose="02020603050405020304" charset="0"/>
              </a:rPr>
              <a:t> before being saved to the database.</a:t>
            </a:r>
            <a:r>
              <a:rPr lang="en-GB" altLang="en-US" sz="2800" dirty="0">
                <a:latin typeface="Times New Roman" panose="02020603050405020304" charset="0"/>
                <a:cs typeface="Times New Roman" panose="02020603050405020304" charset="0"/>
              </a:rPr>
              <a:t> </a:t>
            </a:r>
            <a:endParaRPr lang="en-GB" altLang="en-US" sz="2800" dirty="0">
              <a:latin typeface="Times New Roman" panose="02020603050405020304" charset="0"/>
              <a:cs typeface="Times New Roman" panose="02020603050405020304" charset="0"/>
            </a:endParaRPr>
          </a:p>
        </p:txBody>
      </p:sp>
      <p:pic>
        <p:nvPicPr>
          <p:cNvPr id="3" name="Picture 2" descr="Malihub Log in"/>
          <p:cNvPicPr>
            <a:picLocks noChangeAspect="1"/>
          </p:cNvPicPr>
          <p:nvPr/>
        </p:nvPicPr>
        <p:blipFill>
          <a:blip r:embed="rId1"/>
          <a:stretch>
            <a:fillRect/>
          </a:stretch>
        </p:blipFill>
        <p:spPr>
          <a:xfrm>
            <a:off x="434959" y="680607"/>
            <a:ext cx="1669413" cy="3320415"/>
          </a:xfrm>
          <a:prstGeom prst="rect">
            <a:avLst/>
          </a:prstGeom>
        </p:spPr>
      </p:pic>
      <p:pic>
        <p:nvPicPr>
          <p:cNvPr id="4" name="Picture 3" descr="Malihub Registration"/>
          <p:cNvPicPr>
            <a:picLocks noChangeAspect="1"/>
          </p:cNvPicPr>
          <p:nvPr/>
        </p:nvPicPr>
        <p:blipFill>
          <a:blip r:embed="rId2"/>
          <a:stretch>
            <a:fillRect/>
          </a:stretch>
        </p:blipFill>
        <p:spPr>
          <a:xfrm>
            <a:off x="3111500" y="680720"/>
            <a:ext cx="1941830" cy="33642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 y="0"/>
            <a:ext cx="11849100" cy="6647180"/>
          </a:xfrm>
          <a:prstGeom prst="rect">
            <a:avLst/>
          </a:prstGeom>
          <a:noFill/>
        </p:spPr>
        <p:txBody>
          <a:bodyPr wrap="square" rtlCol="0">
            <a:spAutoFit/>
          </a:bodyPr>
          <a:lstStyle/>
          <a:p>
            <a:r>
              <a:rPr lang="en-US" b="1" u="sng" dirty="0">
                <a:latin typeface="Times New Roman" panose="02020603050405020304" charset="0"/>
                <a:cs typeface="Times New Roman" panose="02020603050405020304" charset="0"/>
              </a:rPr>
              <a:t>Dashboard &amp; Transaction Logging Wireframe</a:t>
            </a:r>
            <a:endParaRPr lang="en-US" i="1" u="sng" dirty="0">
              <a:latin typeface="Times New Roman" panose="02020603050405020304" charset="0"/>
              <a:cs typeface="Times New Roman" panose="02020603050405020304" charset="0"/>
            </a:endParaRPr>
          </a:p>
          <a:p>
            <a:endParaRPr lang="en-US" i="1" u="sng"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i="1"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sz="2400" b="1" dirty="0">
                <a:latin typeface="Times New Roman" panose="02020603050405020304" charset="0"/>
                <a:cs typeface="Times New Roman" panose="02020603050405020304" charset="0"/>
              </a:rPr>
              <a:t>Interface Description:</a:t>
            </a:r>
            <a:endParaRPr lang="en-US" sz="2400" dirty="0">
              <a:latin typeface="Times New Roman" panose="02020603050405020304" charset="0"/>
              <a:cs typeface="Times New Roman" panose="02020603050405020304" charset="0"/>
            </a:endParaRPr>
          </a:p>
          <a:p>
            <a:pPr lvl="1"/>
            <a:r>
              <a:rPr lang="en-US" sz="2400" b="1" dirty="0">
                <a:latin typeface="Times New Roman" panose="02020603050405020304" charset="0"/>
                <a:cs typeface="Times New Roman" panose="02020603050405020304" charset="0"/>
              </a:rPr>
              <a:t>Dashboard Screen:</a:t>
            </a:r>
            <a:r>
              <a:rPr lang="en-US" sz="2400" dirty="0">
                <a:latin typeface="Times New Roman" panose="02020603050405020304" charset="0"/>
                <a:cs typeface="Times New Roman" panose="02020603050405020304" charset="0"/>
              </a:rPr>
              <a:t> Shows the user their manually calculated total balance at the top, followed by summaries for total income and total expenses.</a:t>
            </a:r>
            <a:endParaRPr lang="en-US" sz="2400" dirty="0">
              <a:latin typeface="Times New Roman" panose="02020603050405020304" charset="0"/>
              <a:cs typeface="Times New Roman" panose="02020603050405020304" charset="0"/>
            </a:endParaRPr>
          </a:p>
          <a:p>
            <a:pPr lvl="1"/>
            <a:r>
              <a:rPr lang="en-US" sz="2400" b="1" dirty="0">
                <a:latin typeface="Times New Roman" panose="02020603050405020304" charset="0"/>
                <a:cs typeface="Times New Roman" panose="02020603050405020304" charset="0"/>
              </a:rPr>
              <a:t>Add Transaction Screen:</a:t>
            </a:r>
            <a:r>
              <a:rPr lang="en-US" sz="2400" dirty="0">
                <a:latin typeface="Times New Roman" panose="02020603050405020304" charset="0"/>
                <a:cs typeface="Times New Roman" panose="02020603050405020304" charset="0"/>
              </a:rPr>
              <a:t> A straightforward form where the user manually types the amount and selects the correct category from a dropdown menu.</a:t>
            </a:r>
            <a:endParaRPr lang="en-US" sz="2400" dirty="0">
              <a:latin typeface="Times New Roman" panose="02020603050405020304" charset="0"/>
              <a:cs typeface="Times New Roman" panose="02020603050405020304" charset="0"/>
            </a:endParaRPr>
          </a:p>
        </p:txBody>
      </p:sp>
      <p:pic>
        <p:nvPicPr>
          <p:cNvPr id="3" name="Picture 2" descr="Malihub Dashboard"/>
          <p:cNvPicPr>
            <a:picLocks noChangeAspect="1"/>
          </p:cNvPicPr>
          <p:nvPr/>
        </p:nvPicPr>
        <p:blipFill>
          <a:blip r:embed="rId1"/>
          <a:stretch>
            <a:fillRect/>
          </a:stretch>
        </p:blipFill>
        <p:spPr>
          <a:xfrm>
            <a:off x="228600" y="396875"/>
            <a:ext cx="2007235" cy="4014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3200" y="88265"/>
            <a:ext cx="11565255" cy="6769735"/>
          </a:xfrm>
          <a:prstGeom prst="rect">
            <a:avLst/>
          </a:prstGeom>
          <a:noFill/>
        </p:spPr>
        <p:txBody>
          <a:bodyPr wrap="square" rtlCol="0">
            <a:noAutofit/>
          </a:bodyPr>
          <a:lstStyle/>
          <a:p>
            <a:r>
              <a:rPr lang="en-US" b="1" u="sng" dirty="0">
                <a:latin typeface="Times New Roman" panose="02020603050405020304" charset="0"/>
                <a:cs typeface="Times New Roman" panose="02020603050405020304" charset="0"/>
              </a:rPr>
              <a:t>Analytics &amp; Budget Wireframe</a:t>
            </a:r>
            <a:endParaRPr lang="en-US" b="1" u="sng"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sz="2400" b="1" dirty="0">
                <a:latin typeface="Times New Roman" panose="02020603050405020304" charset="0"/>
                <a:cs typeface="Times New Roman" panose="02020603050405020304" charset="0"/>
              </a:rPr>
              <a:t>Interface Description:</a:t>
            </a:r>
            <a:endParaRPr lang="en-US" sz="2400" dirty="0">
              <a:latin typeface="Times New Roman" panose="02020603050405020304" charset="0"/>
              <a:cs typeface="Times New Roman" panose="02020603050405020304" charset="0"/>
            </a:endParaRPr>
          </a:p>
          <a:p>
            <a:pPr lvl="1"/>
            <a:r>
              <a:rPr lang="en-US" sz="2400" b="1" dirty="0">
                <a:latin typeface="Times New Roman" panose="02020603050405020304" charset="0"/>
                <a:cs typeface="Times New Roman" panose="02020603050405020304" charset="0"/>
              </a:rPr>
              <a:t>Budget Screen:</a:t>
            </a:r>
            <a:r>
              <a:rPr lang="en-US" sz="2400" dirty="0">
                <a:latin typeface="Times New Roman" panose="02020603050405020304" charset="0"/>
                <a:cs typeface="Times New Roman" panose="02020603050405020304" charset="0"/>
              </a:rPr>
              <a:t> Lists user-defined spending categories alongside progress indicators showing how much of the limit has been used up.</a:t>
            </a:r>
            <a:endParaRPr lang="en-US" sz="2400" dirty="0">
              <a:latin typeface="Times New Roman" panose="02020603050405020304" charset="0"/>
              <a:cs typeface="Times New Roman" panose="02020603050405020304" charset="0"/>
            </a:endParaRPr>
          </a:p>
          <a:p>
            <a:pPr lvl="1"/>
            <a:r>
              <a:rPr lang="en-US" sz="2400" b="1" dirty="0">
                <a:latin typeface="Times New Roman" panose="02020603050405020304" charset="0"/>
                <a:cs typeface="Times New Roman" panose="02020603050405020304" charset="0"/>
              </a:rPr>
              <a:t>Note for the Panel:</a:t>
            </a:r>
            <a:r>
              <a:rPr lang="en-US" sz="2400" dirty="0">
                <a:latin typeface="Times New Roman" panose="02020603050405020304" charset="0"/>
                <a:cs typeface="Times New Roman" panose="02020603050405020304" charset="0"/>
              </a:rPr>
              <a:t> This insight/visual layout is purely for presentation and demonstration purposes to show how visual budget boundaries help users track spending effectively.</a:t>
            </a:r>
            <a:r>
              <a:rPr lang="en-GB" altLang="en-US" sz="2400" dirty="0">
                <a:latin typeface="Times New Roman" panose="02020603050405020304" charset="0"/>
                <a:cs typeface="Times New Roman" panose="02020603050405020304" charset="0"/>
              </a:rPr>
              <a:t> Its full capabilities have not been implemented in this MVP (reference “Future recommendations ” in Malihub SRS).</a:t>
            </a:r>
            <a:endParaRPr lang="en-US" sz="2400" dirty="0">
              <a:latin typeface="Times New Roman" panose="02020603050405020304" charset="0"/>
              <a:cs typeface="Times New Roman" panose="02020603050405020304" charset="0"/>
            </a:endParaRPr>
          </a:p>
          <a:p>
            <a:endParaRPr lang="en-US" sz="2400" dirty="0">
              <a:latin typeface="Times New Roman" panose="02020603050405020304" charset="0"/>
              <a:cs typeface="Times New Roman" panose="02020603050405020304" charset="0"/>
            </a:endParaRPr>
          </a:p>
        </p:txBody>
      </p:sp>
      <p:pic>
        <p:nvPicPr>
          <p:cNvPr id="3" name="Picture 2" descr="Malihub Budget Planner"/>
          <p:cNvPicPr>
            <a:picLocks noChangeAspect="1"/>
          </p:cNvPicPr>
          <p:nvPr/>
        </p:nvPicPr>
        <p:blipFill>
          <a:blip r:embed="rId1"/>
          <a:stretch>
            <a:fillRect/>
          </a:stretch>
        </p:blipFill>
        <p:spPr>
          <a:xfrm>
            <a:off x="4024630" y="280035"/>
            <a:ext cx="2258060" cy="42646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203200"/>
            <a:ext cx="10515600" cy="688340"/>
          </a:xfrm>
        </p:spPr>
        <p:txBody>
          <a:bodyPr/>
          <a:p>
            <a:r>
              <a:rPr lang="en-GB" altLang="en-US" sz="3200" b="1">
                <a:latin typeface="Times New Roman" panose="02020603050405020304" charset="0"/>
                <a:cs typeface="Times New Roman" panose="02020603050405020304" charset="0"/>
              </a:rPr>
              <a:t>DATABASE RELATIONSHIPS</a:t>
            </a:r>
            <a:endParaRPr lang="en-GB" altLang="en-US" sz="3200" b="1">
              <a:latin typeface="Times New Roman" panose="02020603050405020304" charset="0"/>
              <a:cs typeface="Times New Roman" panose="02020603050405020304" charset="0"/>
            </a:endParaRPr>
          </a:p>
        </p:txBody>
      </p:sp>
      <p:sp>
        <p:nvSpPr>
          <p:cNvPr id="5" name="Content Placeholder 4"/>
          <p:cNvSpPr>
            <a:spLocks noGrp="1"/>
          </p:cNvSpPr>
          <p:nvPr>
            <p:ph idx="1"/>
          </p:nvPr>
        </p:nvSpPr>
        <p:spPr>
          <a:xfrm>
            <a:off x="213360" y="890905"/>
            <a:ext cx="11743055" cy="5842000"/>
          </a:xfrm>
        </p:spPr>
        <p:txBody>
          <a:bodyPr>
            <a:noAutofit/>
          </a:bodyPr>
          <a:p>
            <a:pPr marL="0" indent="0">
              <a:buNone/>
            </a:pPr>
            <a:r>
              <a:rPr lang="en-US" altLang="en-US" sz="3600">
                <a:latin typeface="Times New Roman" panose="02020603050405020304" charset="0"/>
                <a:cs typeface="Times New Roman" panose="02020603050405020304" charset="0"/>
              </a:rPr>
              <a:t>Each User may own zero or many Accounts, though every Account belongs to exactly one User. Similarly, each User may define zero or many personal Categories though default (system) Categories aren't tied to any particular User. </a:t>
            </a:r>
            <a:endParaRPr lang="en-US" altLang="en-US" sz="3600">
              <a:latin typeface="Times New Roman" panose="02020603050405020304" charset="0"/>
              <a:cs typeface="Times New Roman" panose="02020603050405020304" charset="0"/>
            </a:endParaRPr>
          </a:p>
          <a:p>
            <a:pPr marL="0" indent="0">
              <a:buNone/>
            </a:pPr>
            <a:r>
              <a:rPr lang="en-US" altLang="en-US" sz="3600">
                <a:latin typeface="Times New Roman" panose="02020603050405020304" charset="0"/>
                <a:cs typeface="Times New Roman" panose="02020603050405020304" charset="0"/>
              </a:rPr>
              <a:t>Each User may also set zero or many Budgets, with each Budget belonging to exactly one User, and each User may have zero or many Financial Goals, each of which belongs to exactly one User. Notifications follow the same pattern: a User may receive zero or many Notifications, and each Notification belongs to exactly one User.</a:t>
            </a:r>
            <a:endParaRPr lang="en-US" altLang="en-US" sz="3600">
              <a:latin typeface="Times New Roman" panose="02020603050405020304" charset="0"/>
              <a:cs typeface="Times New Roman" panose="02020603050405020304" charset="0"/>
            </a:endParaRPr>
          </a:p>
          <a:p>
            <a:pPr marL="0" indent="0">
              <a:buNone/>
            </a:pPr>
            <a:endParaRPr lang="en-US" altLang="en-US" sz="36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433705" y="342265"/>
            <a:ext cx="11325225" cy="6275070"/>
          </a:xfrm>
        </p:spPr>
        <p:txBody>
          <a:bodyPr>
            <a:normAutofit/>
          </a:bodyPr>
          <a:p>
            <a:pPr marL="0" indent="0">
              <a:buNone/>
            </a:pPr>
            <a:r>
              <a:rPr lang="en-US" altLang="en-US" sz="3600">
                <a:latin typeface="Times New Roman" panose="02020603050405020304" charset="0"/>
                <a:cs typeface="Times New Roman" panose="02020603050405020304" charset="0"/>
                <a:sym typeface="+mn-ea"/>
              </a:rPr>
              <a:t>Moving down a level, each Account may contain zero or many Transactions, with every Transaction belonging to exactly one Account. Categories relate to Transactions more loosely</a:t>
            </a:r>
            <a:r>
              <a:rPr lang="en-GB" altLang="en-US" sz="3600">
                <a:latin typeface="Times New Roman" panose="02020603050405020304" charset="0"/>
                <a:cs typeface="Times New Roman" panose="02020603050405020304" charset="0"/>
                <a:sym typeface="+mn-ea"/>
              </a:rPr>
              <a:t>,</a:t>
            </a:r>
            <a:r>
              <a:rPr lang="en-US" altLang="en-US" sz="3600">
                <a:latin typeface="Times New Roman" panose="02020603050405020304" charset="0"/>
                <a:cs typeface="Times New Roman" panose="02020603050405020304" charset="0"/>
                <a:sym typeface="+mn-ea"/>
              </a:rPr>
              <a:t> a Category may classify zero or many Transactions, but a Transaction only optionally belongs to a Category, meaning it can exist uncategorized. </a:t>
            </a:r>
            <a:endParaRPr lang="en-US" altLang="en-US" sz="3600">
              <a:latin typeface="Times New Roman" panose="02020603050405020304" charset="0"/>
              <a:cs typeface="Times New Roman" panose="02020603050405020304" charset="0"/>
              <a:sym typeface="+mn-ea"/>
            </a:endParaRPr>
          </a:p>
          <a:p>
            <a:pPr marL="0" indent="0">
              <a:buNone/>
            </a:pPr>
            <a:r>
              <a:rPr lang="en-US" altLang="en-US" sz="3600">
                <a:latin typeface="Times New Roman" panose="02020603050405020304" charset="0"/>
                <a:cs typeface="Times New Roman" panose="02020603050405020304" charset="0"/>
                <a:sym typeface="+mn-ea"/>
              </a:rPr>
              <a:t>Finally, Categories and Budgets have an optional one-to-one relationship: a Category may optionally scope one Budget, and a Budget may optionally scope to one Category — where a NULL value indicates the Budget is an overall budget rather than one tied to a specific category.</a:t>
            </a:r>
            <a:endParaRPr lang="en-US" alt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6100" y="317500"/>
            <a:ext cx="10820400" cy="4831080"/>
          </a:xfrm>
          <a:prstGeom prst="rect">
            <a:avLst/>
          </a:prstGeom>
          <a:noFill/>
        </p:spPr>
        <p:txBody>
          <a:bodyPr wrap="square" rtlCol="0">
            <a:spAutoFit/>
          </a:bodyPr>
          <a:lstStyle/>
          <a:p>
            <a:r>
              <a:rPr lang="en-US" sz="2800" b="1" u="sng" dirty="0">
                <a:latin typeface="Times New Roman" panose="02020603050405020304" charset="0"/>
                <a:cs typeface="Times New Roman" panose="02020603050405020304" charset="0"/>
              </a:rPr>
              <a:t>Design System</a:t>
            </a:r>
            <a:endParaRPr lang="en-US" sz="2800" b="1" u="sng" dirty="0">
              <a:latin typeface="Times New Roman" panose="02020603050405020304" charset="0"/>
              <a:cs typeface="Times New Roman" panose="02020603050405020304" charset="0"/>
            </a:endParaRPr>
          </a:p>
          <a:p>
            <a:endParaRPr lang="en-US" sz="2800" b="1" u="sng" dirty="0">
              <a:latin typeface="Times New Roman" panose="02020603050405020304" charset="0"/>
              <a:cs typeface="Times New Roman" panose="02020603050405020304" charset="0"/>
            </a:endParaRPr>
          </a:p>
          <a:p>
            <a:r>
              <a:rPr lang="en-US" sz="2800" b="1" dirty="0">
                <a:latin typeface="Times New Roman" panose="02020603050405020304" charset="0"/>
                <a:cs typeface="Times New Roman" panose="02020603050405020304" charset="0"/>
              </a:rPr>
              <a:t>Visual Direction:</a:t>
            </a:r>
            <a:r>
              <a:rPr lang="en-US" sz="2800" dirty="0">
                <a:latin typeface="Times New Roman" panose="02020603050405020304" charset="0"/>
                <a:cs typeface="Times New Roman" panose="02020603050405020304" charset="0"/>
              </a:rPr>
              <a:t> Kept clean and minimalist to focus completely on readability.</a:t>
            </a:r>
            <a:endParaRPr lang="en-US" sz="2800" dirty="0">
              <a:latin typeface="Times New Roman" panose="02020603050405020304" charset="0"/>
              <a:cs typeface="Times New Roman" panose="02020603050405020304" charset="0"/>
            </a:endParaRPr>
          </a:p>
          <a:p>
            <a:endParaRPr lang="en-US" sz="2800" dirty="0">
              <a:latin typeface="Times New Roman" panose="02020603050405020304" charset="0"/>
              <a:cs typeface="Times New Roman" panose="02020603050405020304" charset="0"/>
            </a:endParaRPr>
          </a:p>
          <a:p>
            <a:r>
              <a:rPr lang="en-US" sz="2800" b="1" u="sng" dirty="0">
                <a:latin typeface="Times New Roman" panose="02020603050405020304" charset="0"/>
                <a:cs typeface="Times New Roman" panose="02020603050405020304" charset="0"/>
              </a:rPr>
              <a:t>Color Palette Rules</a:t>
            </a:r>
            <a:endParaRPr lang="en-US" sz="2800" b="1" u="sng" dirty="0">
              <a:latin typeface="Times New Roman" panose="02020603050405020304" charset="0"/>
              <a:cs typeface="Times New Roman" panose="02020603050405020304" charset="0"/>
            </a:endParaRPr>
          </a:p>
          <a:p>
            <a:r>
              <a:rPr lang="en-US" sz="2800" dirty="0">
                <a:latin typeface="Times New Roman" panose="02020603050405020304" charset="0"/>
                <a:cs typeface="Times New Roman" panose="02020603050405020304" charset="0"/>
              </a:rPr>
              <a:t>Green: Used intentionally for positive balances and income logs.</a:t>
            </a:r>
            <a:endParaRPr lang="en-US" sz="2800" dirty="0">
              <a:latin typeface="Times New Roman" panose="02020603050405020304" charset="0"/>
              <a:cs typeface="Times New Roman" panose="02020603050405020304" charset="0"/>
            </a:endParaRPr>
          </a:p>
          <a:p>
            <a:r>
              <a:rPr lang="en-US" sz="2800" dirty="0">
                <a:latin typeface="Times New Roman" panose="02020603050405020304" charset="0"/>
                <a:cs typeface="Times New Roman" panose="02020603050405020304" charset="0"/>
              </a:rPr>
              <a:t>Red: Used to highlight expenses and budget limits.</a:t>
            </a:r>
            <a:endParaRPr lang="en-US" sz="2800" dirty="0">
              <a:latin typeface="Times New Roman" panose="02020603050405020304" charset="0"/>
              <a:cs typeface="Times New Roman" panose="02020603050405020304" charset="0"/>
            </a:endParaRPr>
          </a:p>
          <a:p>
            <a:pPr lvl="1"/>
            <a:endParaRPr lang="en-US" sz="2800" dirty="0">
              <a:latin typeface="Times New Roman" panose="02020603050405020304" charset="0"/>
              <a:cs typeface="Times New Roman" panose="02020603050405020304" charset="0"/>
            </a:endParaRPr>
          </a:p>
          <a:p>
            <a:r>
              <a:rPr lang="en-US" sz="2800" b="1" dirty="0">
                <a:latin typeface="Times New Roman" panose="02020603050405020304" charset="0"/>
                <a:cs typeface="Times New Roman" panose="02020603050405020304" charset="0"/>
              </a:rPr>
              <a:t>Typography:</a:t>
            </a:r>
            <a:r>
              <a:rPr lang="en-US" sz="2800" dirty="0">
                <a:latin typeface="Times New Roman" panose="02020603050405020304" charset="0"/>
                <a:cs typeface="Times New Roman" panose="02020603050405020304" charset="0"/>
              </a:rPr>
              <a:t> Uses standard, highly legible text sizes for clear data scanning on mobile screens.</a:t>
            </a:r>
            <a:endParaRPr lang="en-US" sz="28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600" y="0"/>
            <a:ext cx="11988800" cy="6433820"/>
          </a:xfrm>
          <a:prstGeom prst="rect">
            <a:avLst/>
          </a:prstGeom>
          <a:noFill/>
        </p:spPr>
        <p:txBody>
          <a:bodyPr wrap="square" rtlCol="0">
            <a:noAutofit/>
          </a:bodyPr>
          <a:lstStyle/>
          <a:p>
            <a:endParaRPr lang="en-US" sz="2400" b="1" u="sng" dirty="0">
              <a:latin typeface="Times New Roman" panose="02020603050405020304" charset="0"/>
              <a:cs typeface="Times New Roman" panose="02020603050405020304" charset="0"/>
            </a:endParaRPr>
          </a:p>
          <a:p>
            <a:r>
              <a:rPr lang="en-US" sz="2400" b="1" u="sng" dirty="0">
                <a:latin typeface="Times New Roman" panose="02020603050405020304" charset="0"/>
                <a:cs typeface="Times New Roman" panose="02020603050405020304" charset="0"/>
              </a:rPr>
              <a:t>Technical Challenges &amp; Solutions</a:t>
            </a:r>
            <a:endParaRPr lang="en-US" sz="2400" b="1" u="sng" dirty="0">
              <a:latin typeface="Times New Roman" panose="02020603050405020304" charset="0"/>
              <a:cs typeface="Times New Roman" panose="02020603050405020304" charset="0"/>
            </a:endParaRPr>
          </a:p>
          <a:p>
            <a:endParaRPr lang="en-US" sz="2400" b="1" u="sng" dirty="0">
              <a:latin typeface="Times New Roman" panose="02020603050405020304" charset="0"/>
              <a:cs typeface="Times New Roman" panose="02020603050405020304" charset="0"/>
            </a:endParaRPr>
          </a:p>
          <a:p>
            <a:r>
              <a:rPr lang="en-US" sz="2400" b="1" u="sng" dirty="0">
                <a:latin typeface="Times New Roman" panose="02020603050405020304" charset="0"/>
                <a:cs typeface="Times New Roman" panose="02020603050405020304" charset="0"/>
              </a:rPr>
              <a:t>Challenge: High Hardware Resource Demand</a:t>
            </a:r>
            <a:endParaRPr lang="en-US" sz="2400" b="1" u="sng" dirty="0">
              <a:latin typeface="Times New Roman" panose="02020603050405020304" charset="0"/>
              <a:cs typeface="Times New Roman" panose="02020603050405020304" charset="0"/>
            </a:endParaRPr>
          </a:p>
          <a:p>
            <a:r>
              <a:rPr lang="en-US" sz="2400" dirty="0">
                <a:latin typeface="Times New Roman" panose="02020603050405020304" charset="0"/>
                <a:cs typeface="Times New Roman" panose="02020603050405020304" charset="0"/>
              </a:rPr>
              <a:t>Running the Android Studio</a:t>
            </a:r>
            <a:r>
              <a:rPr lang="en-GB" altLang="en-US" sz="2400" dirty="0">
                <a:latin typeface="Times New Roman" panose="02020603050405020304" charset="0"/>
                <a:cs typeface="Times New Roman" panose="02020603050405020304" charset="0"/>
              </a:rPr>
              <a:t>’s </a:t>
            </a:r>
            <a:r>
              <a:rPr lang="en-US" sz="2400" dirty="0">
                <a:latin typeface="Times New Roman" panose="02020603050405020304" charset="0"/>
                <a:cs typeface="Times New Roman" panose="02020603050405020304" charset="0"/>
              </a:rPr>
              <a:t>IDE alongside heavy virtual mobile devices (Android Emulators) took up massive amounts of memory and resources on our laptops. This slowed down development and caused frequent system freezes.</a:t>
            </a:r>
            <a:endParaRPr lang="en-US" sz="2400" dirty="0">
              <a:latin typeface="Times New Roman" panose="02020603050405020304" charset="0"/>
              <a:cs typeface="Times New Roman" panose="02020603050405020304" charset="0"/>
            </a:endParaRPr>
          </a:p>
          <a:p>
            <a:r>
              <a:rPr lang="en-GB" altLang="en-US" sz="2400" dirty="0">
                <a:latin typeface="Times New Roman" panose="02020603050405020304" charset="0"/>
                <a:cs typeface="Times New Roman" panose="02020603050405020304" charset="0"/>
              </a:rPr>
              <a:t>As a solution,</a:t>
            </a:r>
            <a:r>
              <a:rPr lang="en-US" sz="2400" dirty="0">
                <a:latin typeface="Times New Roman" panose="02020603050405020304" charset="0"/>
                <a:cs typeface="Times New Roman" panose="02020603050405020304" charset="0"/>
              </a:rPr>
              <a:t> shifted to testing and running the Flutter applications directly on our physical mobile devices via USB debugging. This bypassed the emulators entirely, freed up computer resources, and significantly sped up our code testing loop.</a:t>
            </a:r>
            <a:endParaRPr lang="en-US" sz="2400" dirty="0">
              <a:latin typeface="Times New Roman" panose="02020603050405020304" charset="0"/>
              <a:cs typeface="Times New Roman" panose="02020603050405020304" charset="0"/>
            </a:endParaRPr>
          </a:p>
          <a:p>
            <a:endParaRPr lang="en-US" sz="2400" dirty="0">
              <a:latin typeface="Times New Roman" panose="02020603050405020304" charset="0"/>
              <a:cs typeface="Times New Roman" panose="02020603050405020304" charset="0"/>
            </a:endParaRPr>
          </a:p>
          <a:p>
            <a:r>
              <a:rPr lang="en-US" sz="2400" b="1" u="sng" dirty="0">
                <a:latin typeface="Times New Roman" panose="02020603050405020304" charset="0"/>
                <a:cs typeface="Times New Roman" panose="02020603050405020304" charset="0"/>
              </a:rPr>
              <a:t>Challenge: Team Database Schema Synchronization</a:t>
            </a:r>
            <a:r>
              <a:rPr lang="en-GB" altLang="en-US" sz="2400" b="1" u="sng" dirty="0">
                <a:latin typeface="Times New Roman" panose="02020603050405020304" charset="0"/>
                <a:cs typeface="Times New Roman" panose="02020603050405020304" charset="0"/>
              </a:rPr>
              <a:t> </a:t>
            </a:r>
            <a:endParaRPr lang="en-US" sz="2400" b="1" u="sng" dirty="0">
              <a:latin typeface="Times New Roman" panose="02020603050405020304" charset="0"/>
              <a:cs typeface="Times New Roman" panose="02020603050405020304" charset="0"/>
            </a:endParaRPr>
          </a:p>
          <a:p>
            <a:r>
              <a:rPr lang="en-US" sz="2400" dirty="0">
                <a:latin typeface="Times New Roman" panose="02020603050405020304" charset="0"/>
                <a:cs typeface="Times New Roman" panose="02020603050405020304" charset="0"/>
              </a:rPr>
              <a:t>Merging different git branches occasionally caused local database states to go out of sync.</a:t>
            </a:r>
            <a:endParaRPr lang="en-US" sz="2400" dirty="0">
              <a:latin typeface="Times New Roman" panose="02020603050405020304" charset="0"/>
              <a:cs typeface="Times New Roman" panose="02020603050405020304" charset="0"/>
            </a:endParaRPr>
          </a:p>
          <a:p>
            <a:r>
              <a:rPr lang="en-GB" altLang="en-US" sz="2400" dirty="0">
                <a:latin typeface="Times New Roman" panose="02020603050405020304" charset="0"/>
                <a:cs typeface="Times New Roman" panose="02020603050405020304" charset="0"/>
              </a:rPr>
              <a:t>As a troubleshoot, we</a:t>
            </a:r>
            <a:r>
              <a:rPr lang="en-US" sz="2400" dirty="0">
                <a:latin typeface="Times New Roman" panose="02020603050405020304" charset="0"/>
                <a:cs typeface="Times New Roman" panose="02020603050405020304" charset="0"/>
              </a:rPr>
              <a:t> established a strict protocol where team members ran Prisma migration synchronization commands immediately after pulling code updates.</a:t>
            </a:r>
            <a:endParaRPr lang="en-US" sz="2400"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60020"/>
            <a:ext cx="11544300" cy="6438900"/>
          </a:xfrm>
          <a:prstGeom prst="rect">
            <a:avLst/>
          </a:prstGeom>
          <a:noFill/>
        </p:spPr>
        <p:txBody>
          <a:bodyPr wrap="square" rtlCol="0">
            <a:noAutofit/>
          </a:bodyPr>
          <a:lstStyle/>
          <a:p>
            <a:r>
              <a:rPr lang="en-US" altLang="en-US" sz="2800" b="1" u="sng" dirty="0">
                <a:latin typeface="Times New Roman" panose="02020603050405020304" charset="0"/>
                <a:cs typeface="Times New Roman" panose="02020603050405020304" charset="0"/>
              </a:rPr>
              <a:t>Future Considerations</a:t>
            </a:r>
            <a:endParaRPr lang="en-US"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Scalability</a:t>
            </a:r>
            <a:r>
              <a:rPr lang="en-GB" altLang="en-US" sz="2800" b="1" dirty="0">
                <a:latin typeface="Times New Roman" panose="02020603050405020304" charset="0"/>
                <a:cs typeface="Times New Roman" panose="02020603050405020304" charset="0"/>
              </a:rPr>
              <a:t> and </a:t>
            </a:r>
            <a:r>
              <a:rPr lang="en-US" altLang="en-US" sz="2800" b="1" dirty="0">
                <a:latin typeface="Times New Roman" panose="02020603050405020304" charset="0"/>
                <a:cs typeface="Times New Roman" panose="02020603050405020304" charset="0"/>
              </a:rPr>
              <a:t>Containerization</a:t>
            </a:r>
            <a:r>
              <a:rPr lang="en-GB" altLang="en-US" sz="2800" b="1" dirty="0">
                <a:latin typeface="Times New Roman" panose="02020603050405020304" charset="0"/>
                <a:cs typeface="Times New Roman" panose="02020603050405020304" charset="0"/>
              </a:rPr>
              <a:t>. </a:t>
            </a:r>
            <a:r>
              <a:rPr lang="en-US" altLang="en-US" sz="2800" dirty="0">
                <a:latin typeface="Times New Roman" panose="02020603050405020304" charset="0"/>
                <a:cs typeface="Times New Roman" panose="02020603050405020304" charset="0"/>
              </a:rPr>
              <a:t>Package backend services in Docker to standardize the runtime environment and simplify moving between hosting providers</a:t>
            </a:r>
            <a:r>
              <a:rPr lang="en-GB" altLang="en-US" sz="2800" dirty="0">
                <a:latin typeface="Times New Roman" panose="02020603050405020304" charset="0"/>
                <a:cs typeface="Times New Roman" panose="02020603050405020304" charset="0"/>
              </a:rPr>
              <a:t>.</a:t>
            </a:r>
            <a:endParaRPr lang="en-US"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Tech Stack </a:t>
            </a:r>
            <a:r>
              <a:rPr lang="en-GB" altLang="en-US" sz="2800" b="1" dirty="0">
                <a:latin typeface="Times New Roman" panose="02020603050405020304" charset="0"/>
                <a:cs typeface="Times New Roman" panose="02020603050405020304" charset="0"/>
              </a:rPr>
              <a:t>changes and evolution. </a:t>
            </a:r>
            <a:r>
              <a:rPr lang="en-US" altLang="en-US" sz="2800" dirty="0">
                <a:latin typeface="Times New Roman" panose="02020603050405020304" charset="0"/>
                <a:cs typeface="Times New Roman" panose="02020603050405020304" charset="0"/>
              </a:rPr>
              <a:t>Migrate</a:t>
            </a:r>
            <a:r>
              <a:rPr lang="en-GB" altLang="en-US" sz="2800" dirty="0">
                <a:latin typeface="Times New Roman" panose="02020603050405020304" charset="0"/>
                <a:cs typeface="Times New Roman" panose="02020603050405020304" charset="0"/>
              </a:rPr>
              <a:t> from</a:t>
            </a:r>
            <a:r>
              <a:rPr lang="en-US" altLang="en-US" sz="2800" dirty="0">
                <a:latin typeface="Times New Roman" panose="02020603050405020304" charset="0"/>
                <a:cs typeface="Times New Roman" panose="02020603050405020304" charset="0"/>
              </a:rPr>
              <a:t> MySQL</a:t>
            </a:r>
            <a:r>
              <a:rPr lang="en-GB" altLang="en-US" sz="2800" dirty="0">
                <a:latin typeface="Times New Roman" panose="02020603050405020304" charset="0"/>
                <a:cs typeface="Times New Roman" panose="02020603050405020304" charset="0"/>
              </a:rPr>
              <a:t> to </a:t>
            </a:r>
            <a:r>
              <a:rPr lang="en-US" altLang="en-US" sz="2800" dirty="0">
                <a:latin typeface="Times New Roman" panose="02020603050405020304" charset="0"/>
                <a:cs typeface="Times New Roman" panose="02020603050405020304" charset="0"/>
              </a:rPr>
              <a:t>PostgreSQL for better performance on growing transaction history; evaluate Postgres-native hosts (Render, Supabase</a:t>
            </a:r>
            <a:r>
              <a:rPr lang="en-GB" altLang="en-US" sz="2800" dirty="0">
                <a:latin typeface="Times New Roman" panose="02020603050405020304" charset="0"/>
                <a:cs typeface="Times New Roman" panose="02020603050405020304" charset="0"/>
              </a:rPr>
              <a:t>, Firebase</a:t>
            </a:r>
            <a:r>
              <a:rPr lang="en-US" altLang="en-US" sz="2800" dirty="0">
                <a:latin typeface="Times New Roman" panose="02020603050405020304" charset="0"/>
                <a:cs typeface="Times New Roman" panose="02020603050405020304" charset="0"/>
              </a:rPr>
              <a:t>) as Railway alternatives</a:t>
            </a:r>
            <a:r>
              <a:rPr lang="en-GB" altLang="en-US" sz="2800" dirty="0">
                <a:latin typeface="Times New Roman" panose="02020603050405020304" charset="0"/>
                <a:cs typeface="Times New Roman" panose="02020603050405020304" charset="0"/>
              </a:rPr>
              <a:t> for backend hosting.</a:t>
            </a:r>
            <a:endParaRPr lang="en-US"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App Distribution</a:t>
            </a:r>
            <a:r>
              <a:rPr lang="en-GB" altLang="en-US" sz="2800" b="1" dirty="0">
                <a:latin typeface="Times New Roman" panose="02020603050405020304" charset="0"/>
                <a:cs typeface="Times New Roman" panose="02020603050405020304" charset="0"/>
              </a:rPr>
              <a:t>.</a:t>
            </a:r>
            <a:r>
              <a:rPr lang="en-US" altLang="en-US" sz="2800" dirty="0">
                <a:latin typeface="Times New Roman" panose="02020603050405020304" charset="0"/>
                <a:cs typeface="Times New Roman" panose="02020603050405020304" charset="0"/>
              </a:rPr>
              <a:t> Move from </a:t>
            </a:r>
            <a:r>
              <a:rPr lang="en-GB" altLang="en-US" sz="2800" dirty="0">
                <a:latin typeface="Times New Roman" panose="02020603050405020304" charset="0"/>
                <a:cs typeface="Times New Roman" panose="02020603050405020304" charset="0"/>
              </a:rPr>
              <a:t>usb-debuging</a:t>
            </a:r>
            <a:r>
              <a:rPr lang="en-US" altLang="en-US" sz="2800" dirty="0">
                <a:latin typeface="Times New Roman" panose="02020603050405020304" charset="0"/>
                <a:cs typeface="Times New Roman" panose="02020603050405020304" charset="0"/>
              </a:rPr>
              <a:t> </a:t>
            </a:r>
            <a:r>
              <a:rPr lang="en-GB" altLang="en-US" sz="2800" dirty="0">
                <a:latin typeface="Times New Roman" panose="02020603050405020304" charset="0"/>
                <a:cs typeface="Times New Roman" panose="02020603050405020304" charset="0"/>
              </a:rPr>
              <a:t>for installation</a:t>
            </a:r>
            <a:r>
              <a:rPr lang="en-US" altLang="en-US" sz="2800" dirty="0">
                <a:latin typeface="Times New Roman" panose="02020603050405020304" charset="0"/>
                <a:cs typeface="Times New Roman" panose="02020603050405020304" charset="0"/>
              </a:rPr>
              <a:t> to direct APK distribution (Firebase App Distribution </a:t>
            </a:r>
            <a:r>
              <a:rPr lang="en-GB" altLang="en-US" sz="2800" dirty="0">
                <a:latin typeface="Times New Roman" panose="02020603050405020304" charset="0"/>
                <a:cs typeface="Times New Roman" panose="02020603050405020304" charset="0"/>
              </a:rPr>
              <a:t>or even</a:t>
            </a:r>
            <a:r>
              <a:rPr lang="en-US" altLang="en-US" sz="2800" dirty="0">
                <a:latin typeface="Times New Roman" panose="02020603050405020304" charset="0"/>
                <a:cs typeface="Times New Roman" panose="02020603050405020304" charset="0"/>
              </a:rPr>
              <a:t> Google Play internal testing) so users can install Malihub on </a:t>
            </a:r>
            <a:r>
              <a:rPr lang="en-GB" altLang="en-US" sz="2800" dirty="0">
                <a:latin typeface="Times New Roman" panose="02020603050405020304" charset="0"/>
                <a:cs typeface="Times New Roman" panose="02020603050405020304" charset="0"/>
              </a:rPr>
              <a:t>their</a:t>
            </a:r>
            <a:r>
              <a:rPr lang="en-US" altLang="en-US" sz="2800" dirty="0">
                <a:latin typeface="Times New Roman" panose="02020603050405020304" charset="0"/>
                <a:cs typeface="Times New Roman" panose="02020603050405020304" charset="0"/>
              </a:rPr>
              <a:t> device</a:t>
            </a:r>
            <a:r>
              <a:rPr lang="en-GB" altLang="en-US" sz="2800" dirty="0">
                <a:latin typeface="Times New Roman" panose="02020603050405020304" charset="0"/>
                <a:cs typeface="Times New Roman" panose="02020603050405020304" charset="0"/>
              </a:rPr>
              <a:t>s</a:t>
            </a:r>
            <a:r>
              <a:rPr lang="en-US" altLang="en-US" sz="2800" dirty="0">
                <a:latin typeface="Times New Roman" panose="02020603050405020304" charset="0"/>
                <a:cs typeface="Times New Roman" panose="02020603050405020304" charset="0"/>
              </a:rPr>
              <a:t> </a:t>
            </a:r>
            <a:r>
              <a:rPr lang="en-GB" sz="2800" dirty="0">
                <a:latin typeface="Times New Roman" panose="02020603050405020304" charset="0"/>
                <a:cs typeface="Times New Roman" panose="02020603050405020304" charset="0"/>
              </a:rPr>
              <a:t>conveniently.</a:t>
            </a:r>
            <a:endParaRPr lang="en-US"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Automated Safeguards</a:t>
            </a:r>
            <a:r>
              <a:rPr lang="en-US" altLang="en-US" sz="2800" dirty="0">
                <a:latin typeface="Times New Roman" panose="02020603050405020304" charset="0"/>
                <a:cs typeface="Times New Roman" panose="02020603050405020304" charset="0"/>
              </a:rPr>
              <a:t>: Introduce unit and integration tests for financial calculations, run automatically before every deployment</a:t>
            </a:r>
            <a:r>
              <a:rPr lang="en-GB" altLang="en-US" sz="2800" dirty="0">
                <a:latin typeface="Times New Roman" panose="02020603050405020304" charset="0"/>
                <a:cs typeface="Times New Roman" panose="02020603050405020304" charset="0"/>
              </a:rPr>
              <a:t>.</a:t>
            </a:r>
            <a:endParaRPr lang="en-GB" altLang="en-US" sz="2800" dirty="0">
              <a:latin typeface="Times New Roman" panose="02020603050405020304" charset="0"/>
              <a:cs typeface="Times New Roman" panose="02020603050405020304" charset="0"/>
            </a:endParaRPr>
          </a:p>
          <a:p>
            <a:r>
              <a:rPr lang="en-US" altLang="en-US" sz="2800" b="1" dirty="0">
                <a:latin typeface="Times New Roman" panose="02020603050405020304" charset="0"/>
                <a:cs typeface="Times New Roman" panose="02020603050405020304" charset="0"/>
              </a:rPr>
              <a:t>Automated Insights</a:t>
            </a:r>
            <a:r>
              <a:rPr lang="en-US" altLang="en-US" sz="2800" dirty="0">
                <a:latin typeface="Times New Roman" panose="02020603050405020304" charset="0"/>
                <a:cs typeface="Times New Roman" panose="02020603050405020304" charset="0"/>
              </a:rPr>
              <a:t>: Analyze historical transaction data to auto-generate spending summaries, budget</a:t>
            </a:r>
            <a:r>
              <a:rPr lang="en-GB" altLang="en-US" sz="2800" dirty="0">
                <a:latin typeface="Times New Roman" panose="02020603050405020304" charset="0"/>
                <a:cs typeface="Times New Roman" panose="02020603050405020304" charset="0"/>
              </a:rPr>
              <a:t> against </a:t>
            </a:r>
            <a:r>
              <a:rPr lang="en-US" altLang="en-US" sz="2800" dirty="0">
                <a:latin typeface="Times New Roman" panose="02020603050405020304" charset="0"/>
                <a:cs typeface="Times New Roman" panose="02020603050405020304" charset="0"/>
              </a:rPr>
              <a:t>actual alerts, and goal progress forecasts</a:t>
            </a:r>
            <a:r>
              <a:rPr lang="en-GB" altLang="en-US" sz="2800" dirty="0">
                <a:latin typeface="Times New Roman" panose="02020603050405020304" charset="0"/>
                <a:cs typeface="Times New Roman" panose="02020603050405020304" charset="0"/>
              </a:rPr>
              <a:t>.</a:t>
            </a:r>
            <a:endParaRPr lang="en-GB" altLang="en-US" sz="2800"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365125"/>
            <a:ext cx="10536555" cy="4923790"/>
          </a:xfrm>
        </p:spPr>
        <p:txBody>
          <a:bodyPr>
            <a:normAutofit/>
          </a:bodyPr>
          <a:p>
            <a:r>
              <a:rPr lang="en-GB" altLang="en-US" sz="7200" b="1">
                <a:solidFill>
                  <a:srgbClr val="FF0000"/>
                </a:solidFill>
                <a:latin typeface="Times New Roman" panose="02020603050405020304" charset="0"/>
                <a:cs typeface="Times New Roman" panose="02020603050405020304" charset="0"/>
              </a:rPr>
              <a:t>THE END OF MALIHUB PRESENTATION</a:t>
            </a:r>
            <a:br>
              <a:rPr lang="en-GB" altLang="en-US" sz="7200" b="1">
                <a:solidFill>
                  <a:srgbClr val="FF0000"/>
                </a:solidFill>
                <a:latin typeface="Times New Roman" panose="02020603050405020304" charset="0"/>
                <a:cs typeface="Times New Roman" panose="02020603050405020304" charset="0"/>
              </a:rPr>
            </a:br>
            <a:r>
              <a:rPr lang="en-GB" altLang="en-US" sz="2800" b="1">
                <a:solidFill>
                  <a:schemeClr val="tx1"/>
                </a:solidFill>
                <a:latin typeface="Times New Roman" panose="02020603050405020304" charset="0"/>
                <a:cs typeface="Times New Roman" panose="02020603050405020304" charset="0"/>
              </a:rPr>
              <a:t> (FOR FURTHER QUESTIONS AND DEEPER UNDERSTANDING OF THE MVP, FEEL FREE TO GO THROUGH MALIHUB’S SRS DOC AT </a:t>
            </a:r>
            <a:r>
              <a:rPr lang="en-US" altLang="en-US" sz="2800" b="1">
                <a:solidFill>
                  <a:schemeClr val="tx1"/>
                </a:solidFill>
                <a:latin typeface="Times New Roman" panose="02020603050405020304" charset="0"/>
                <a:cs typeface="Times New Roman" panose="02020603050405020304" charset="0"/>
              </a:rPr>
              <a:t>https://github.com/p1-my2/Malihub</a:t>
            </a:r>
            <a:r>
              <a:rPr lang="en-GB" altLang="en-US" sz="2800" b="1">
                <a:solidFill>
                  <a:schemeClr val="tx1"/>
                </a:solidFill>
                <a:latin typeface="Times New Roman" panose="02020603050405020304" charset="0"/>
                <a:cs typeface="Times New Roman" panose="02020603050405020304" charset="0"/>
              </a:rPr>
              <a:t>)</a:t>
            </a:r>
            <a:endParaRPr lang="en-GB" altLang="en-US" sz="2800" b="1">
              <a:solidFill>
                <a:schemeClr val="tx1"/>
              </a:solidFill>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7516</Words>
  <Application>WPS Presentation</Application>
  <PresentationFormat>Widescreen</PresentationFormat>
  <Paragraphs>173</Paragraphs>
  <Slides>15</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Times New Roman</vt:lpstr>
      <vt:lpstr>Microsoft YaHei</vt:lpstr>
      <vt:lpstr>Arial Unicode MS</vt:lpstr>
      <vt:lpstr>Calibri Light</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 END OF MALIHUB PRESENTATION  (FOR FURTHER QUESTIONS AND DEEPER UNDERSTANDING OF THE MVP, FEEL FREE TO GO THROUGH MALIHUB’S SRS DOC AT https://github.com/p1-my2/Malihub)</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Chantelle Idaya</dc:creator>
  <cp:lastModifiedBy>Admin</cp:lastModifiedBy>
  <cp:revision>67</cp:revision>
  <dcterms:created xsi:type="dcterms:W3CDTF">2026-07-10T19:23:00Z</dcterms:created>
  <dcterms:modified xsi:type="dcterms:W3CDTF">2026-07-14T06:48:50Z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215C6A3C1B264102AED2336148220BB6_12</vt:lpwstr>
  </property>
</Properties>
</file>